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5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28467C"/>
    <a:srgbClr val="EEF3F8"/>
    <a:srgbClr val="F7F9FC"/>
    <a:srgbClr val="333333"/>
    <a:srgbClr val="2F3E8F"/>
    <a:srgbClr val="E6EEF8"/>
    <a:srgbClr val="5B8DEF"/>
    <a:srgbClr val="2F56D6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97E7-47F9-21F2-F365-49EEA8B48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71173-5ECA-3CA8-E38B-6C160727E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D93B3-9DD9-31BF-B3D7-213B401D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3A21B-F1F0-E18A-BC2A-B11D93AA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72C7-DE25-1950-60EB-CEBC7DDD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8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32BB-CF1C-5503-BECC-35DBED92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BDCB6-1A5E-055D-E340-36F4EC87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393CF-0F33-3824-33BD-4B9284805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CCB11-0CB3-2FD6-F3B3-734E51E2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A5690-34F1-EF3C-4974-3B32DAFD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6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29B9-2EC5-F752-4A40-5D517E88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5634E-44EC-9885-08BD-9032B8542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89701-1AF6-6071-9655-7C6CDADA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D450F-CF52-FECA-149F-983C0315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D94A-C47A-113F-A650-838BCF15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2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C4DD-2F6C-5595-2660-51BB564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C041-8859-49C8-7316-8BC546A48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EF76D-9F52-93C1-0610-614DFFA6B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B5173-83E4-9839-5A0A-0E831238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0E5DC-AD28-EE62-F6BB-C6436413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D4CEA-C437-F437-E073-EF9FCE46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3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9CA2-263E-8F20-71FB-9646814D6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7AF3A-3086-2CAF-E713-65731F27A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76E9E-A298-C460-5D94-ADA7028C9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79C36-47D8-3936-3532-1EF390605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510D1-37D8-3073-1AA4-404B13C03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4E898-64A6-155F-EB1A-39FB66A8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B0C41-DF04-6B6B-8118-32BA2C9E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368C3-0CB8-6603-A470-D9F839A8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7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C0FC-BFE9-45FB-51BF-CFC21B6A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1ADA4-6E8A-7A01-E65E-9A2955DE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7BEA-B07A-18BC-28CB-C9F23CE2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B6160-BDC4-A299-DDAD-EC4A74C5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22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DDD9B-3A78-2F6E-899F-F8B6F5A5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115FB-6196-5B83-D295-5EEC9737A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E2B96-088E-B13D-A2FD-426007F7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44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06FC-AAA2-1A8B-21A5-7CB3DE93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FC53C-0688-D435-67DA-7D7412051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3653E-5269-73B3-716D-95DDEE3E1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A6F69-3FD4-8BAD-3CDD-7742246E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268A7-7B28-0182-8E6E-0B7CE340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A559A-68D8-6DF8-7156-C2160D4B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91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31F8-E5B7-02EF-F118-8B3F1AD6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475C6-4FD3-408C-E74D-19EC8189D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18D21-F39B-9226-F647-871553118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EA6B6-4401-66B4-E383-26D823EA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66F66-F415-DCE3-CA84-030D7EE94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34D17-1A4A-AC41-F585-61433FCB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1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B695-165F-149A-7829-93C5CD55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49676-83DA-7E17-9D8D-6195CF6E5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C8E63-DD69-A397-B34E-E48E192E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1A215-F7AB-B26C-0992-1B79BF6D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A96D6-22B5-C9EF-6026-93A2FFE8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58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4E26A-DA2C-B518-402B-1D472CBB8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90A6B-F7F2-E74F-EF78-0F3001E83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D3C6-B455-BE74-F3A3-DE9BDFC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C8AF6-C7BE-EA01-40A8-7FE81D45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AE2E4-CEF3-2B3C-633E-D99292F8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07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5BF30-A1E5-033B-99BD-6D0CA77E6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CB5A9-5DCB-0E03-B84B-3C5CCA8BA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D66EF-A2C6-260B-2781-61B154B3A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03A40-541E-4AA8-AB2F-5AF30544A6B5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3BE76-C469-A217-C8A3-8B48DDC76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3F2A-FBAF-313D-7475-FAD5C77EE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E5278-1BD5-459B-8E2E-5E8D117484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87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751AF-0A97-9DD2-3BE4-F855C033D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6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E9D12C-C8B3-6F30-EA92-3227B86033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255537-77F0-AF3A-9BD5-DB6F4F213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A67C20-1E3C-C9C4-3A9C-3486D7D3C9BD}"/>
              </a:ext>
            </a:extLst>
          </p:cNvPr>
          <p:cNvSpPr txBox="1"/>
          <p:nvPr/>
        </p:nvSpPr>
        <p:spPr>
          <a:xfrm>
            <a:off x="936173" y="903513"/>
            <a:ext cx="3864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D4893-A6B8-3D47-B847-579880EE048F}"/>
              </a:ext>
            </a:extLst>
          </p:cNvPr>
          <p:cNvSpPr txBox="1"/>
          <p:nvPr/>
        </p:nvSpPr>
        <p:spPr>
          <a:xfrm>
            <a:off x="1110345" y="1720840"/>
            <a:ext cx="88609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AtliQ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Motors, a leading EV manufacturer from the USA, plans to expand into the Indian market</a:t>
            </a:r>
          </a:p>
          <a:p>
            <a:pPr>
              <a:buClr>
                <a:srgbClr val="1F4E79"/>
              </a:buClr>
            </a:pPr>
            <a:endParaRPr lang="en-US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Currently, the company holds </a:t>
            </a: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25% market share in North America</a:t>
            </a: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but </a:t>
            </a: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less than 2% in India</a:t>
            </a:r>
          </a:p>
          <a:p>
            <a:pPr>
              <a:buClr>
                <a:srgbClr val="1F4E79"/>
              </a:buClr>
            </a:pPr>
            <a:endParaRPr lang="en-US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Before expansion, a detailed analysis of the Indian EV market is required.</a:t>
            </a:r>
          </a:p>
          <a:p>
            <a:pPr>
              <a:buClr>
                <a:srgbClr val="1F4E79"/>
              </a:buClr>
            </a:pPr>
            <a:endParaRPr lang="en-US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objective is to understand market trends, competition, and growth opportunities</a:t>
            </a:r>
          </a:p>
          <a:p>
            <a:pPr>
              <a:buClr>
                <a:srgbClr val="1F4E79"/>
              </a:buClr>
            </a:pPr>
            <a:endParaRPr lang="en-US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analysis is assigned to the data analytics team led by </a:t>
            </a:r>
            <a:r>
              <a:rPr lang="en-US" b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Peter Pandey</a:t>
            </a:r>
            <a:endParaRPr lang="en-US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522EC0-28D8-D419-21CB-5CF1BE46F0FB}"/>
              </a:ext>
            </a:extLst>
          </p:cNvPr>
          <p:cNvCxnSpPr>
            <a:cxnSpLocks/>
          </p:cNvCxnSpPr>
          <p:nvPr/>
        </p:nvCxnSpPr>
        <p:spPr>
          <a:xfrm>
            <a:off x="1023259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94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C1DA7-BE9C-3EB7-80FF-DFD8FAB3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9BFC76-6FA7-740E-EB28-EB2101E6D5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0B043-50D0-F684-ECF1-3A2CB7DB4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00E501-2BBE-DB77-2987-B184CA449BE8}"/>
              </a:ext>
            </a:extLst>
          </p:cNvPr>
          <p:cNvSpPr txBox="1"/>
          <p:nvPr/>
        </p:nvSpPr>
        <p:spPr>
          <a:xfrm>
            <a:off x="936173" y="903513"/>
            <a:ext cx="3864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Tasks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AD0C7-C5DE-8C12-2CFB-C1066B55CB75}"/>
              </a:ext>
            </a:extLst>
          </p:cNvPr>
          <p:cNvSpPr txBox="1"/>
          <p:nvPr/>
        </p:nvSpPr>
        <p:spPr>
          <a:xfrm>
            <a:off x="1023259" y="1575373"/>
            <a:ext cx="88609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Imagine yourself as Peter Pandey and perform the following tasks.</a:t>
            </a:r>
          </a:p>
          <a:p>
            <a:pPr>
              <a:buClr>
                <a:srgbClr val="1F4E79"/>
              </a:buClr>
            </a:pP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1F4E79"/>
              </a:buClr>
              <a:buFont typeface="+mj-lt"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Begin your analysis by referring to the ‘primary_and_secondary_questions.pdf’. You can use any tool of your choice (Excel) to analyze and answer these questions. More instructions are provided in this document.</a:t>
            </a:r>
          </a:p>
          <a:p>
            <a:pPr marL="342900" indent="-342900">
              <a:buClr>
                <a:srgbClr val="1F4E79"/>
              </a:buClr>
              <a:buFont typeface="+mj-lt"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Design a dashboard with your metrics and analysis. The dashboard should be self-explanatory and easy to understand. </a:t>
            </a:r>
          </a:p>
          <a:p>
            <a:pPr marL="342900" indent="-342900">
              <a:buClr>
                <a:srgbClr val="1F4E79"/>
              </a:buClr>
              <a:buFont typeface="+mj-lt"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You can use additional data based on your own research to support your recommendations and provide more insights. </a:t>
            </a:r>
          </a:p>
          <a:p>
            <a:pPr marL="342900" indent="-342900">
              <a:buClr>
                <a:srgbClr val="1F4E79"/>
              </a:buClr>
              <a:buFont typeface="+mj-lt"/>
              <a:buAutoNum type="arabicPeriod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 creative with your presentation, audio/video presentation will have more weightage. You will be presenting these insights to the chief Bruce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Haryali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he appreciates good storytelling and concise presentation. </a:t>
            </a:r>
            <a:endParaRPr lang="en-US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E6579E-A638-85AC-8A39-A456A05035FF}"/>
              </a:ext>
            </a:extLst>
          </p:cNvPr>
          <p:cNvCxnSpPr>
            <a:cxnSpLocks/>
          </p:cNvCxnSpPr>
          <p:nvPr/>
        </p:nvCxnSpPr>
        <p:spPr>
          <a:xfrm>
            <a:off x="1023259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77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44E21-9A41-C95D-2517-FD0E76CD5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AFE065-9787-2F3C-62FD-2D83D721B6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DB0DED-8DC0-B9A7-B4D7-A3B274330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A4D9D7-7DF7-FB79-73F5-1D9626D92197}"/>
              </a:ext>
            </a:extLst>
          </p:cNvPr>
          <p:cNvSpPr txBox="1"/>
          <p:nvPr/>
        </p:nvSpPr>
        <p:spPr>
          <a:xfrm>
            <a:off x="936173" y="903513"/>
            <a:ext cx="3864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Overview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252BA1-03A6-50DF-EDE9-76A8E49ECE1B}"/>
              </a:ext>
            </a:extLst>
          </p:cNvPr>
          <p:cNvCxnSpPr>
            <a:cxnSpLocks/>
          </p:cNvCxnSpPr>
          <p:nvPr/>
        </p:nvCxnSpPr>
        <p:spPr>
          <a:xfrm>
            <a:off x="1023259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B36629F-0A08-A658-DA99-F8B0BF1D1E7E}"/>
              </a:ext>
            </a:extLst>
          </p:cNvPr>
          <p:cNvSpPr txBox="1"/>
          <p:nvPr/>
        </p:nvSpPr>
        <p:spPr>
          <a:xfrm>
            <a:off x="1023258" y="1667902"/>
            <a:ext cx="9339941" cy="1415772"/>
          </a:xfrm>
          <a:prstGeom prst="rect">
            <a:avLst/>
          </a:prstGeom>
          <a:solidFill>
            <a:srgbClr val="EEF3F8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sz="20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Details</a:t>
            </a:r>
          </a:p>
          <a:p>
            <a:endParaRPr lang="en-US" dirty="0"/>
          </a:p>
          <a:p>
            <a:pPr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includes EV sales from 2022 to 2024 </a:t>
            </a:r>
          </a:p>
          <a:p>
            <a:pPr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Covers 2W &amp; 4W vehicles </a:t>
            </a:r>
          </a:p>
          <a:p>
            <a:pPr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State-wise &amp; maker-wise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75B3C-EAB5-9527-8989-1417D7FA8D1B}"/>
              </a:ext>
            </a:extLst>
          </p:cNvPr>
          <p:cNvSpPr txBox="1"/>
          <p:nvPr/>
        </p:nvSpPr>
        <p:spPr>
          <a:xfrm>
            <a:off x="1023258" y="3246331"/>
            <a:ext cx="9339941" cy="1384995"/>
          </a:xfrm>
          <a:prstGeom prst="rect">
            <a:avLst/>
          </a:prstGeom>
          <a:solidFill>
            <a:srgbClr val="EEF3F8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          </a:t>
            </a:r>
            <a:r>
              <a:rPr lang="en-US" sz="20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Preparation</a:t>
            </a:r>
          </a:p>
          <a:p>
            <a:pPr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Cleaned missing values</a:t>
            </a:r>
          </a:p>
          <a:p>
            <a:pPr indent="-285750">
              <a:buClr>
                <a:srgbClr val="1F4E79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Created calculated columns</a:t>
            </a:r>
          </a:p>
          <a:p>
            <a:pPr>
              <a:buClr>
                <a:srgbClr val="1F4E79"/>
              </a:buClr>
            </a:pPr>
            <a:r>
              <a:rPr lang="en-US" sz="16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(CAGR, Penetration Rate)</a:t>
            </a:r>
          </a:p>
        </p:txBody>
      </p:sp>
      <p:pic>
        <p:nvPicPr>
          <p:cNvPr id="10" name="Graphic 9" descr="Database">
            <a:extLst>
              <a:ext uri="{FF2B5EF4-FFF2-40B4-BE49-F238E27FC236}">
                <a16:creationId xmlns:a16="http://schemas.microsoft.com/office/drawing/2014/main" id="{60E2108B-A73E-4D8E-0D1B-AD1C86E64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258" y="1667901"/>
            <a:ext cx="482601" cy="300554"/>
          </a:xfrm>
          <a:prstGeom prst="rect">
            <a:avLst/>
          </a:prstGeom>
        </p:spPr>
      </p:pic>
      <p:pic>
        <p:nvPicPr>
          <p:cNvPr id="12" name="Graphic 11" descr="Mop and bucket">
            <a:extLst>
              <a:ext uri="{FF2B5EF4-FFF2-40B4-BE49-F238E27FC236}">
                <a16:creationId xmlns:a16="http://schemas.microsoft.com/office/drawing/2014/main" id="{4F0084DA-112A-5372-D085-BC192886F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744" y="3271132"/>
            <a:ext cx="370115" cy="3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8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5BC8A-6B1B-6AC9-FBA6-45DB753C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95A7B0-12F6-90D0-C337-986AB1715C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AEF488-58F7-E5E9-9E3E-0DD5D6FA4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5D0527-E8D9-2C2B-BE40-5F97D63CFC2B}"/>
              </a:ext>
            </a:extLst>
          </p:cNvPr>
          <p:cNvSpPr txBox="1"/>
          <p:nvPr/>
        </p:nvSpPr>
        <p:spPr>
          <a:xfrm>
            <a:off x="1251857" y="185679"/>
            <a:ext cx="6901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Top &amp; Bottom EV 2-Wheeler Makers</a:t>
            </a:r>
            <a:endParaRPr lang="en-IN" sz="2800" dirty="0">
              <a:solidFill>
                <a:schemeClr val="accent1">
                  <a:lumMod val="5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0B9A60-6C19-90E0-6C2D-9C6A1BAE32B1}"/>
              </a:ext>
            </a:extLst>
          </p:cNvPr>
          <p:cNvCxnSpPr>
            <a:cxnSpLocks/>
          </p:cNvCxnSpPr>
          <p:nvPr/>
        </p:nvCxnSpPr>
        <p:spPr>
          <a:xfrm>
            <a:off x="1035923" y="1107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105936-6DA6-3752-D69A-C1504CC78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57916"/>
              </p:ext>
            </p:extLst>
          </p:nvPr>
        </p:nvGraphicFramePr>
        <p:xfrm>
          <a:off x="1016927" y="1281125"/>
          <a:ext cx="4682634" cy="184839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92468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682394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 3 EV 2-Wheeler Makers – FY 2023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Maker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Unites Sold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OLA ELECTRIC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2,71,925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TVS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1,65,030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ATHER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1,03,812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753B26-15AF-B861-6F77-FE766D1F3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184428"/>
              </p:ext>
            </p:extLst>
          </p:nvPr>
        </p:nvGraphicFramePr>
        <p:xfrm>
          <a:off x="1035923" y="3324285"/>
          <a:ext cx="4669970" cy="184839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79804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682394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 3 EV 2-Wheeler Makers – FY 2024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Maker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Unites Sold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OLA ELECTRIC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1,10,872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TVS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55,742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r>
                        <a:rPr lang="en-IN" dirty="0"/>
                        <a:t>AJAJ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40,072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E12EC9-23D9-D496-9AAA-FC0518EA9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27330"/>
              </p:ext>
            </p:extLst>
          </p:nvPr>
        </p:nvGraphicFramePr>
        <p:xfrm>
          <a:off x="5954484" y="1289396"/>
          <a:ext cx="4865913" cy="184839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Bottom 3 EV 2-Wheeler Makers – FY 2023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Rank(Bottom)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Maker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Unites Sold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JITENDRA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1,180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BEING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1,354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PURE EV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1,789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CE8F596-BFB6-DE5D-78FD-F7D39E521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22629"/>
              </p:ext>
            </p:extLst>
          </p:nvPr>
        </p:nvGraphicFramePr>
        <p:xfrm>
          <a:off x="5954484" y="3324285"/>
          <a:ext cx="4865913" cy="184839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970315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1371598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Bottom 3 EV 2-Wheeler Makers – FY 2024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Rank(Bottom)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Maker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Unites Sold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HERO ELECTRIC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1,050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BATTRE ELECTRIC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1,128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REVOLT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1,582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A4B148-F9C6-E3E1-06E6-9866B07DE5B9}"/>
              </a:ext>
            </a:extLst>
          </p:cNvPr>
          <p:cNvSpPr/>
          <p:nvPr/>
        </p:nvSpPr>
        <p:spPr>
          <a:xfrm>
            <a:off x="1926770" y="5359174"/>
            <a:ext cx="8893627" cy="1306286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01869-195B-FF0D-F18E-71CBF779B6CF}"/>
              </a:ext>
            </a:extLst>
          </p:cNvPr>
          <p:cNvSpPr txBox="1"/>
          <p:nvPr/>
        </p:nvSpPr>
        <p:spPr>
          <a:xfrm>
            <a:off x="1328057" y="642053"/>
            <a:ext cx="3102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FY 2023 &amp; FY 2024</a:t>
            </a:r>
            <a:endParaRPr lang="en-IN" sz="24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A4FD5-5694-1713-1A1D-CDAD53AB1574}"/>
              </a:ext>
            </a:extLst>
          </p:cNvPr>
          <p:cNvSpPr txBox="1"/>
          <p:nvPr/>
        </p:nvSpPr>
        <p:spPr>
          <a:xfrm>
            <a:off x="3907971" y="5399787"/>
            <a:ext cx="6912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 2W market is highly concentrated.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Ola Electric leads consistently in FY 2023 &amp; 2024, while smaller players have minimal market share.</a:t>
            </a:r>
          </a:p>
        </p:txBody>
      </p:sp>
      <p:pic>
        <p:nvPicPr>
          <p:cNvPr id="14" name="Graphic 13" descr="Lightbulb and gear">
            <a:extLst>
              <a:ext uri="{FF2B5EF4-FFF2-40B4-BE49-F238E27FC236}">
                <a16:creationId xmlns:a16="http://schemas.microsoft.com/office/drawing/2014/main" id="{8B46C69D-2D27-7857-AD10-310B0744D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0171" y="5488185"/>
            <a:ext cx="914400" cy="9144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43C38E-20AB-599C-3CFA-9436B6037737}"/>
              </a:ext>
            </a:extLst>
          </p:cNvPr>
          <p:cNvCxnSpPr>
            <a:cxnSpLocks/>
          </p:cNvCxnSpPr>
          <p:nvPr/>
        </p:nvCxnSpPr>
        <p:spPr>
          <a:xfrm>
            <a:off x="3581399" y="5488185"/>
            <a:ext cx="0" cy="106501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86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4632B-E3A3-DDE2-890C-E907A80B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101B7B-F41F-8531-4286-79DEFF6C8E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2B6CC-7F44-CCDE-C23F-09164FCAF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D434F5-CF83-E286-8E41-E8F04B895E63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- 2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A30A99-6DB9-7082-EF78-C71EBF73A800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490AE5-4178-890B-A91F-AC41E0F8B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981069"/>
              </p:ext>
            </p:extLst>
          </p:nvPr>
        </p:nvGraphicFramePr>
        <p:xfrm>
          <a:off x="341415" y="1366579"/>
          <a:ext cx="5655295" cy="285423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74916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422337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966534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  <a:gridCol w="1204341">
                  <a:extLst>
                    <a:ext uri="{9D8B030D-6E8A-4147-A177-3AD203B41FA5}">
                      <a16:colId xmlns:a16="http://schemas.microsoft.com/office/drawing/2014/main" val="1089429465"/>
                    </a:ext>
                  </a:extLst>
                </a:gridCol>
                <a:gridCol w="1387167">
                  <a:extLst>
                    <a:ext uri="{9D8B030D-6E8A-4147-A177-3AD203B41FA5}">
                      <a16:colId xmlns:a16="http://schemas.microsoft.com/office/drawing/2014/main" val="738482655"/>
                    </a:ext>
                  </a:extLst>
                </a:gridCol>
              </a:tblGrid>
              <a:tr h="385356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 5 States by EV Penetration(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2-Wheeler) </a:t>
                      </a:r>
                      <a:r>
                        <a:rPr lang="en-US" dirty="0"/>
                        <a:t>– FY 2023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Ev Sales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 Sales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Penetration Rate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Ladakh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26.92%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r>
                        <a:rPr lang="en-IN" dirty="0" err="1"/>
                        <a:t>oa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3567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14856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24.01%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r>
                        <a:rPr lang="en-IN" dirty="0" err="1"/>
                        <a:t>erala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20239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123774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16.35%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Karnataka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47762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348572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13.70%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Maharashtra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58228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473042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12.31%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797604-E896-D946-DEB3-DE54D8548F89}"/>
              </a:ext>
            </a:extLst>
          </p:cNvPr>
          <p:cNvSpPr/>
          <p:nvPr/>
        </p:nvSpPr>
        <p:spPr>
          <a:xfrm>
            <a:off x="1899556" y="4474026"/>
            <a:ext cx="8893627" cy="1796144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B504F9-05C7-61EC-A204-F5DD59ADA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37052"/>
              </p:ext>
            </p:extLst>
          </p:nvPr>
        </p:nvGraphicFramePr>
        <p:xfrm>
          <a:off x="6266707" y="1366579"/>
          <a:ext cx="5655295" cy="285423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74916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422337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966534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  <a:gridCol w="1204341">
                  <a:extLst>
                    <a:ext uri="{9D8B030D-6E8A-4147-A177-3AD203B41FA5}">
                      <a16:colId xmlns:a16="http://schemas.microsoft.com/office/drawing/2014/main" val="1089429465"/>
                    </a:ext>
                  </a:extLst>
                </a:gridCol>
                <a:gridCol w="1387167">
                  <a:extLst>
                    <a:ext uri="{9D8B030D-6E8A-4147-A177-3AD203B41FA5}">
                      <a16:colId xmlns:a16="http://schemas.microsoft.com/office/drawing/2014/main" val="738482655"/>
                    </a:ext>
                  </a:extLst>
                </a:gridCol>
              </a:tblGrid>
              <a:tr h="385356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Top 5 States by EV Penetration (4-Wheelers) – FY 2024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Ev Sales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 Sales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Penetration Rate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Kerala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2294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26306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8.72%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Chandigarh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304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4339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7.17%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308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  <a:r>
                        <a:rPr lang="en-IN"/>
                        <a:t>833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5.28%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Delhi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2838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55323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5.13%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Karnataka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3485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82333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4.23%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52BB6B-3ADC-ACFA-EEC6-EF9F03B89605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the top 5 states with the highest penetration rate in 2-wheeler and 4-wheeler EV sales in FY 2024.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22E2E-F22F-6E20-4CDD-D1C0FBAD6944}"/>
              </a:ext>
            </a:extLst>
          </p:cNvPr>
          <p:cNvSpPr txBox="1"/>
          <p:nvPr/>
        </p:nvSpPr>
        <p:spPr>
          <a:xfrm>
            <a:off x="2032574" y="4633637"/>
            <a:ext cx="87869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Delhi and Karnataka</a:t>
            </a:r>
            <a:r>
              <a:rPr lang="en-US" sz="1600" dirty="0"/>
              <a:t> are strong in both 2W and 4W EV adoption</a:t>
            </a:r>
          </a:p>
          <a:p>
            <a:r>
              <a:rPr lang="en-US" sz="1600" dirty="0"/>
              <a:t>• Some smaller regions like </a:t>
            </a:r>
            <a:r>
              <a:rPr lang="en-US" sz="1600" b="1" dirty="0"/>
              <a:t>Chandigarh and Goa</a:t>
            </a:r>
            <a:r>
              <a:rPr lang="en-US" sz="1600" dirty="0"/>
              <a:t> have high EV usage even with low total sales</a:t>
            </a:r>
          </a:p>
          <a:p>
            <a:r>
              <a:rPr lang="en-US" sz="1600" dirty="0"/>
              <a:t>• EV growth is higher in </a:t>
            </a:r>
            <a:r>
              <a:rPr lang="en-US" sz="1600" b="1" dirty="0"/>
              <a:t>cities with good charging infrastructure and government support</a:t>
            </a:r>
            <a:endParaRPr lang="en-US" sz="1600" dirty="0"/>
          </a:p>
          <a:p>
            <a:r>
              <a:rPr lang="en-US" sz="1600" dirty="0"/>
              <a:t>• Big states don’t always have the highest penetration — </a:t>
            </a:r>
            <a:r>
              <a:rPr lang="en-US" sz="1600" b="1" dirty="0"/>
              <a:t>policies matter more than size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6613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A9408-2183-39A6-F8C5-2AB03591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68D0D8-968A-E9C0-381D-CDE6D5591B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F5B9C-BCE1-EA50-C94F-231682575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D9B798-A300-1D42-C674-12B9BB0DA282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- 3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55903E-C831-773D-1071-7669EA098BC3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975429-3634-485D-6241-D911144D5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346764"/>
              </p:ext>
            </p:extLst>
          </p:nvPr>
        </p:nvGraphicFramePr>
        <p:xfrm>
          <a:off x="1157282" y="1412192"/>
          <a:ext cx="8941266" cy="2854901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79102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975231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1872938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  <a:gridCol w="1796098">
                  <a:extLst>
                    <a:ext uri="{9D8B030D-6E8A-4147-A177-3AD203B41FA5}">
                      <a16:colId xmlns:a16="http://schemas.microsoft.com/office/drawing/2014/main" val="1089429465"/>
                    </a:ext>
                  </a:extLst>
                </a:gridCol>
                <a:gridCol w="2217897">
                  <a:extLst>
                    <a:ext uri="{9D8B030D-6E8A-4147-A177-3AD203B41FA5}">
                      <a16:colId xmlns:a16="http://schemas.microsoft.com/office/drawing/2014/main" val="738482655"/>
                    </a:ext>
                  </a:extLst>
                </a:gridCol>
              </a:tblGrid>
              <a:tr h="385356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 5 States by EV Penetration(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2-Wheeler) </a:t>
                      </a:r>
                      <a:r>
                        <a:rPr lang="en-US" dirty="0"/>
                        <a:t>– FY 2023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Penetration Rate</a:t>
                      </a:r>
                    </a:p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(2022)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Penetration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(2023)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Sikkim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.00%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Himachal Pradesh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.01%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Nagaland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.05%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Arunachal Pradesh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.01%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.15%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Tripura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.47%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en-IN" dirty="0"/>
                        <a:t>.67%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0.26%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5551AD-0396-4FB1-FAA2-120528FB0E84}"/>
              </a:ext>
            </a:extLst>
          </p:cNvPr>
          <p:cNvSpPr/>
          <p:nvPr/>
        </p:nvSpPr>
        <p:spPr>
          <a:xfrm>
            <a:off x="1899556" y="4474026"/>
            <a:ext cx="8893627" cy="1578430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6D68F-9593-E5ED-D0C7-C86744906214}"/>
              </a:ext>
            </a:extLst>
          </p:cNvPr>
          <p:cNvSpPr txBox="1"/>
          <p:nvPr/>
        </p:nvSpPr>
        <p:spPr>
          <a:xfrm>
            <a:off x="1415144" y="478268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List the states with negative penetration (decline) in EV sales from 2022 to 2024?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B8736-C516-C89A-F421-B1995497752C}"/>
              </a:ext>
            </a:extLst>
          </p:cNvPr>
          <p:cNvSpPr txBox="1"/>
          <p:nvPr/>
        </p:nvSpPr>
        <p:spPr>
          <a:xfrm>
            <a:off x="2032574" y="4633637"/>
            <a:ext cx="87869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IN" sz="1600" dirty="0"/>
              <a:t>No state in India experienced a decline in EV penetration between 2022 and 2024. All states show positive or stable growth, indicating a strong and consistent increase in EV adoption across the country.</a:t>
            </a:r>
          </a:p>
        </p:txBody>
      </p:sp>
    </p:spTree>
    <p:extLst>
      <p:ext uri="{BB962C8B-B14F-4D97-AF65-F5344CB8AC3E}">
        <p14:creationId xmlns:p14="http://schemas.microsoft.com/office/powerpoint/2010/main" val="255693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F99BC-A09E-5658-77D9-AA18EFE0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84068C-EB8A-D5D0-191A-62E15198C9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6D0BEA-405D-2A1C-D13E-729D0840F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9042AA-E4B0-0BC1-A737-874F0279FF92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- 4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97779-ED39-32D7-D0FD-6A179EDD1B1F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A40487-FAE6-4D10-540C-99B43EADB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33306"/>
              </p:ext>
            </p:extLst>
          </p:nvPr>
        </p:nvGraphicFramePr>
        <p:xfrm>
          <a:off x="1215456" y="1284210"/>
          <a:ext cx="9761088" cy="2854901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43907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727764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1638287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  <a:gridCol w="1909529">
                  <a:extLst>
                    <a:ext uri="{9D8B030D-6E8A-4147-A177-3AD203B41FA5}">
                      <a16:colId xmlns:a16="http://schemas.microsoft.com/office/drawing/2014/main" val="1089429465"/>
                    </a:ext>
                  </a:extLst>
                </a:gridCol>
                <a:gridCol w="1601573">
                  <a:extLst>
                    <a:ext uri="{9D8B030D-6E8A-4147-A177-3AD203B41FA5}">
                      <a16:colId xmlns:a16="http://schemas.microsoft.com/office/drawing/2014/main" val="738482655"/>
                    </a:ext>
                  </a:extLst>
                </a:gridCol>
                <a:gridCol w="1940028">
                  <a:extLst>
                    <a:ext uri="{9D8B030D-6E8A-4147-A177-3AD203B41FA5}">
                      <a16:colId xmlns:a16="http://schemas.microsoft.com/office/drawing/2014/main" val="500879359"/>
                    </a:ext>
                  </a:extLst>
                </a:gridCol>
              </a:tblGrid>
              <a:tr h="385356">
                <a:tc grid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Top 5 States by EV Penetration(2-Wheeler) – FY 2023</a:t>
                      </a:r>
                      <a:endParaRPr lang="en-IN" sz="18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Quarter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Makers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BYD India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Hyundai Motor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Mahindra &amp; Mahindra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MG Motor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Tata Motors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487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392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13286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2309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13953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423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579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9670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3957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18581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454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586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9025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3766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23678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1055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519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9212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3721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32723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77ACB9-A6A5-760B-0029-A670A9B6AE8C}"/>
              </a:ext>
            </a:extLst>
          </p:cNvPr>
          <p:cNvSpPr/>
          <p:nvPr/>
        </p:nvSpPr>
        <p:spPr>
          <a:xfrm>
            <a:off x="1812470" y="4800597"/>
            <a:ext cx="8893627" cy="1578430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17EC8-6C43-2231-464E-1AB8F9B03383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What are the quarterly trends based on sales volume for the top 5 EV makers (4-wheelers) from 2022 to 2024?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59941-51E3-7332-E693-E5B20B097320}"/>
              </a:ext>
            </a:extLst>
          </p:cNvPr>
          <p:cNvSpPr txBox="1"/>
          <p:nvPr/>
        </p:nvSpPr>
        <p:spPr>
          <a:xfrm>
            <a:off x="1945488" y="4960208"/>
            <a:ext cx="87869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IN" sz="1600" dirty="0"/>
              <a:t>The consistent rise in EV sales and strong Q4 performance indicate growing market demand. </a:t>
            </a:r>
            <a:r>
              <a:rPr lang="en-IN" sz="1600" dirty="0" err="1"/>
              <a:t>AtliQ</a:t>
            </a:r>
            <a:r>
              <a:rPr lang="en-IN" sz="1600" dirty="0"/>
              <a:t> Motors should strategically launch during high-demand periods such as Q3–Q4 to maximize sales potential.</a:t>
            </a:r>
          </a:p>
        </p:txBody>
      </p:sp>
    </p:spTree>
    <p:extLst>
      <p:ext uri="{BB962C8B-B14F-4D97-AF65-F5344CB8AC3E}">
        <p14:creationId xmlns:p14="http://schemas.microsoft.com/office/powerpoint/2010/main" val="306807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29570-08EE-6E65-88EE-ACC3BFEB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E7884-F49E-B5AF-A250-8FEB2F4080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5CB31-B1B0-1896-5C6A-33ABE24A9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08739C-E586-011B-1675-76951B788907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- 5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48E11-3646-45FE-0D1F-5B9A578CF8FF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DB8F12-19EE-FB36-0882-557C683B5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95744"/>
              </p:ext>
            </p:extLst>
          </p:nvPr>
        </p:nvGraphicFramePr>
        <p:xfrm>
          <a:off x="2510855" y="1405660"/>
          <a:ext cx="5128895" cy="221415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21320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037922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2169653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EV Sales &amp; Penetration Comparison (FY 2024)</a:t>
                      </a:r>
                      <a:endParaRPr lang="en-IN" sz="18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Delhi vs Karnataka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Delhi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Karnataka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Ev Sales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13277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51247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Total </a:t>
                      </a:r>
                      <a:r>
                        <a:rPr lang="en-US" dirty="0" err="1"/>
                        <a:t>Vehicals</a:t>
                      </a:r>
                      <a:r>
                        <a:rPr lang="en-US" dirty="0"/>
                        <a:t> sold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155839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430905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Penetration Rate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8.52%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11.89%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409866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97DDB4-0A0C-4E70-AB5D-7DE77A0C97B6}"/>
              </a:ext>
            </a:extLst>
          </p:cNvPr>
          <p:cNvSpPr/>
          <p:nvPr/>
        </p:nvSpPr>
        <p:spPr>
          <a:xfrm>
            <a:off x="1572984" y="3973282"/>
            <a:ext cx="8893627" cy="1579129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28738-0DAF-B9C4-65E3-101D5A2D150A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How do the EV sales and penetration rates in Delhi compare to Karnataka for 2024?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7A8A5-EC83-A655-AB35-3CE46D07BAA7}"/>
              </a:ext>
            </a:extLst>
          </p:cNvPr>
          <p:cNvSpPr txBox="1"/>
          <p:nvPr/>
        </p:nvSpPr>
        <p:spPr>
          <a:xfrm>
            <a:off x="1706002" y="4132894"/>
            <a:ext cx="87869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IN" sz="1600" dirty="0"/>
              <a:t>In FY 2024, Karnataka outperforms Delhi in both EV sales and penetration rate, making it a more </a:t>
            </a:r>
            <a:r>
              <a:rPr lang="en-IN" sz="1600" dirty="0" err="1"/>
              <a:t>favorable</a:t>
            </a:r>
            <a:r>
              <a:rPr lang="en-IN" sz="1600" dirty="0"/>
              <a:t> market for expansion, while Delhi continues to be a strong and competitive EV market.</a:t>
            </a:r>
          </a:p>
        </p:txBody>
      </p:sp>
    </p:spTree>
    <p:extLst>
      <p:ext uri="{BB962C8B-B14F-4D97-AF65-F5344CB8AC3E}">
        <p14:creationId xmlns:p14="http://schemas.microsoft.com/office/powerpoint/2010/main" val="249685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B4ADF-EE3F-2570-00A4-AE77110B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82A485-2E58-2EF7-0612-8C0469C7D6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9320B-FD7B-4D6A-8423-863B29568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A7F374-BA06-1757-C419-092C3D85D1BF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- 6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771E33-873D-A714-83FF-40DED27D2AF6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F5FD84-7D9E-5F72-2238-6DDAF7508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00946"/>
              </p:ext>
            </p:extLst>
          </p:nvPr>
        </p:nvGraphicFramePr>
        <p:xfrm>
          <a:off x="3098685" y="1598866"/>
          <a:ext cx="4309958" cy="2581246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43907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2140494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1225557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Top 5 Makers by CAGR (4-Wheelers)</a:t>
                      </a:r>
                      <a:endParaRPr lang="en-IN" sz="18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Rank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Maker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CAGR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Volvo Auto India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115.41%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BMW India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50.70%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Mercedes -Benz AG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36.63%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BYD India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10.26%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MG Motor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2.74%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9910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7702ED-E20B-13CB-E6D2-A64AD5770EEC}"/>
              </a:ext>
            </a:extLst>
          </p:cNvPr>
          <p:cNvSpPr/>
          <p:nvPr/>
        </p:nvSpPr>
        <p:spPr>
          <a:xfrm>
            <a:off x="1812470" y="4600547"/>
            <a:ext cx="8893627" cy="1317173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96769-FD6E-988F-FF95-BA9E797FA345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List down the compounded annual growth rate (CAGR) in 4-wheeler units for the top 5 makers from 2022 to 2024.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D0E83E-7428-FBB1-0DA3-E1A03750747C}"/>
              </a:ext>
            </a:extLst>
          </p:cNvPr>
          <p:cNvSpPr txBox="1"/>
          <p:nvPr/>
        </p:nvSpPr>
        <p:spPr>
          <a:xfrm>
            <a:off x="1945488" y="4760158"/>
            <a:ext cx="87869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IN" sz="1600" dirty="0"/>
              <a:t>The high CAGR of premium EV brands suggests strong growth potential in the luxury segment, while mass-market players require strategic innovation to maintain growth.</a:t>
            </a:r>
          </a:p>
        </p:txBody>
      </p:sp>
    </p:spTree>
    <p:extLst>
      <p:ext uri="{BB962C8B-B14F-4D97-AF65-F5344CB8AC3E}">
        <p14:creationId xmlns:p14="http://schemas.microsoft.com/office/powerpoint/2010/main" val="138206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25AD9-66F1-01B9-44F0-D3417A18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490305-8162-6D82-74FC-6875B58DD6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F121E3-E9C9-1218-3813-06209977E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77E784-B5EC-F4DE-2CBC-1C5F68A49810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- 7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4CC114-0C8B-CED1-4A15-830BF52A3538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BBB00B-4EA0-28B9-E52E-6F6D14AE1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44431"/>
              </p:ext>
            </p:extLst>
          </p:nvPr>
        </p:nvGraphicFramePr>
        <p:xfrm>
          <a:off x="3632364" y="1391332"/>
          <a:ext cx="4927271" cy="4667430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79102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975231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1872938">
                  <a:extLst>
                    <a:ext uri="{9D8B030D-6E8A-4147-A177-3AD203B41FA5}">
                      <a16:colId xmlns:a16="http://schemas.microsoft.com/office/drawing/2014/main" val="3802082090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 10 States by CAGR (Total Vehicle Sales) – 2022–2024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AGR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503666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Nagaland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-37.81%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Puducherry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-40.63%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Assam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-41.65%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Chhattisgarh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-42.63%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Haryana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-42.96%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Karnataka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-43.36%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04482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Meghalaya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-43.61%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328766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Tamil Nadu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-43.79%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91475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Mizoram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-44.68%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7465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Goa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-44.85%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1114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CEED39-2348-A7E6-B44D-F65C25741C6D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List down the top 10 states that had the highest compounded annual growth rate (CAGR) from 2022 to 2024 in total vehicles sold.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C15B7A-A505-4B68-1101-F65FCE371BED}"/>
              </a:ext>
            </a:extLst>
          </p:cNvPr>
          <p:cNvSpPr/>
          <p:nvPr/>
        </p:nvSpPr>
        <p:spPr>
          <a:xfrm>
            <a:off x="8833633" y="1881701"/>
            <a:ext cx="3084369" cy="2243982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F092F6-2546-D795-8BD2-29C754BD7C10}"/>
              </a:ext>
            </a:extLst>
          </p:cNvPr>
          <p:cNvSpPr txBox="1"/>
          <p:nvPr/>
        </p:nvSpPr>
        <p:spPr>
          <a:xfrm>
            <a:off x="8884000" y="2025132"/>
            <a:ext cx="29836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/>
              <a:t>All states show a negative CAGR in total vehicle sales from 2022 to 2024, indicating an overall decline in vehicle sales during this period.</a:t>
            </a:r>
          </a:p>
        </p:txBody>
      </p:sp>
    </p:spTree>
    <p:extLst>
      <p:ext uri="{BB962C8B-B14F-4D97-AF65-F5344CB8AC3E}">
        <p14:creationId xmlns:p14="http://schemas.microsoft.com/office/powerpoint/2010/main" val="2074856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955B6-DBCE-63B5-1435-495BF50E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562DB7-6834-2709-F226-E15C84F177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825AC4-002E-CC49-3DD8-BE4DB5613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98C6F9-C9BB-AFC3-F43E-73B30316D86D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- 8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6ECF8B-B7DA-2A19-3B4D-DF607336B4DF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C3A9CA-4CF3-D1F9-1B8C-B0E99C8FF4AD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What are the peak and low season months for EV sales based on the data from 2022 to 2024? 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91E2A5-873E-950C-2C42-B60D7D0A0AE3}"/>
              </a:ext>
            </a:extLst>
          </p:cNvPr>
          <p:cNvSpPr/>
          <p:nvPr/>
        </p:nvSpPr>
        <p:spPr>
          <a:xfrm>
            <a:off x="8517947" y="1833480"/>
            <a:ext cx="3084369" cy="3191039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4131D-2FCC-9505-1743-1774EE6C0131}"/>
              </a:ext>
            </a:extLst>
          </p:cNvPr>
          <p:cNvSpPr txBox="1"/>
          <p:nvPr/>
        </p:nvSpPr>
        <p:spPr>
          <a:xfrm>
            <a:off x="8568314" y="1976912"/>
            <a:ext cx="29836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 err="1"/>
              <a:t>AtliQ</a:t>
            </a:r>
            <a:r>
              <a:rPr lang="en-IN" sz="1600" dirty="0"/>
              <a:t> Motors should plan major launches and marketing campaigns around March and festive months to maximize sales, while preparing strategies to boost demand during slower months like June.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C82A4F-F54D-0BF4-4611-CF8FF891D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27969"/>
              </p:ext>
            </p:extLst>
          </p:nvPr>
        </p:nvGraphicFramePr>
        <p:xfrm>
          <a:off x="3632364" y="1391332"/>
          <a:ext cx="3054333" cy="4727544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79102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975231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</a:tblGrid>
              <a:tr h="385356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Monthly EV Sales Summary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Jan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189.10K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Feb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198.05K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Mar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291.59K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Apr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134.66K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May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159.87K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Jun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106.71K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04482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Jul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127.43K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328766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Aug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141.96K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91475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Sep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145.97K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7465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Oct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185.19K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111439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Nov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205.20K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90796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Dec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180.40K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70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023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78172-908A-5677-39E3-CBCD32CA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FA24ED-E0B1-97DD-E645-B18BE7F2D8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CA6A9-F0A8-67AF-348D-5E6151A84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CD0B63-DF43-145F-F05B-600022AF4FEE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- 9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BB491E-E96F-772D-C456-F583DDDA3557}"/>
              </a:ext>
            </a:extLst>
          </p:cNvPr>
          <p:cNvCxnSpPr>
            <a:cxnSpLocks/>
          </p:cNvCxnSpPr>
          <p:nvPr/>
        </p:nvCxnSpPr>
        <p:spPr>
          <a:xfrm>
            <a:off x="990602" y="1420314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0A8D5E-2A13-37C6-899E-775EC8C22C09}"/>
              </a:ext>
            </a:extLst>
          </p:cNvPr>
          <p:cNvSpPr txBox="1"/>
          <p:nvPr/>
        </p:nvSpPr>
        <p:spPr>
          <a:xfrm>
            <a:off x="1415144" y="478268"/>
            <a:ext cx="8937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What is the projected number of EV sales (including 2-wheelers and 4 wheelers) for the top 10 states by penetration rate in 2030, based on the compounded annual growth rate (CAGR) from previous years?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2C7BF2-0E9F-B74F-255A-4A9B2B929F79}"/>
              </a:ext>
            </a:extLst>
          </p:cNvPr>
          <p:cNvSpPr/>
          <p:nvPr/>
        </p:nvSpPr>
        <p:spPr>
          <a:xfrm>
            <a:off x="8517947" y="1833481"/>
            <a:ext cx="3084369" cy="2934462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E9C6F7-529B-ABE2-DFD5-1A660C85615E}"/>
              </a:ext>
            </a:extLst>
          </p:cNvPr>
          <p:cNvSpPr txBox="1"/>
          <p:nvPr/>
        </p:nvSpPr>
        <p:spPr>
          <a:xfrm>
            <a:off x="8568314" y="1976912"/>
            <a:ext cx="298363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 err="1"/>
              <a:t>AtliQ</a:t>
            </a:r>
            <a:r>
              <a:rPr lang="en-US" sz="1600" dirty="0"/>
              <a:t> Motors should not rely only on past trends, as EV adoption is growing quickly. It should focus on high-potential states like Karnataka, Maharashtra, and Kerala for future expansion.</a:t>
            </a:r>
            <a:endParaRPr lang="en-IN" sz="16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E85071-4244-FC8B-815C-2618AFD5B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33215"/>
              </p:ext>
            </p:extLst>
          </p:nvPr>
        </p:nvGraphicFramePr>
        <p:xfrm>
          <a:off x="3430980" y="1614396"/>
          <a:ext cx="4715383" cy="4739277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70121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1698467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957263">
                  <a:extLst>
                    <a:ext uri="{9D8B030D-6E8A-4147-A177-3AD203B41FA5}">
                      <a16:colId xmlns:a16="http://schemas.microsoft.com/office/drawing/2014/main" val="1149922462"/>
                    </a:ext>
                  </a:extLst>
                </a:gridCol>
                <a:gridCol w="1289532">
                  <a:extLst>
                    <a:ext uri="{9D8B030D-6E8A-4147-A177-3AD203B41FA5}">
                      <a16:colId xmlns:a16="http://schemas.microsoft.com/office/drawing/2014/main" val="3843846489"/>
                    </a:ext>
                  </a:extLst>
                </a:gridCol>
              </a:tblGrid>
              <a:tr h="385356">
                <a:tc gridSpan="4"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Monthly EV Sales Summary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Rank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State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CAGR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Projected 2030 Sales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Uttar Pradesh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-5.59%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15017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Karnataka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-25.06%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9079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Mizoram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95.79%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7773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4005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Maharashtra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-30.84%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6766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6774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Kerala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-22.23%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4984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04482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Tamil Nadu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-29.84%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3764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328766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Madhya Pradesh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-22.11%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3108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91475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 Bengal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-19.95%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1579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74657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Goa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-16.93%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1273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111439"/>
                  </a:ext>
                </a:extLst>
              </a:tr>
              <a:tr h="36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Arunachal Pradesh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123.61%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1250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907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043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CA10E-5927-200B-3092-BAA0DCAE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128CAE-11CB-D7BC-D692-7A869F210F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D6EC01-BB61-35CD-BF46-2F5562BDE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A742F7-7309-17E2-78E0-83A23455DA95}"/>
              </a:ext>
            </a:extLst>
          </p:cNvPr>
          <p:cNvSpPr txBox="1"/>
          <p:nvPr/>
        </p:nvSpPr>
        <p:spPr>
          <a:xfrm>
            <a:off x="1415143" y="0"/>
            <a:ext cx="4931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  - 10</a:t>
            </a:r>
            <a:endParaRPr lang="en-IN" sz="3200" dirty="0">
              <a:solidFill>
                <a:srgbClr val="1F4E7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BF7E1C-B626-C49C-3EBC-ACAAFDE0498C}"/>
              </a:ext>
            </a:extLst>
          </p:cNvPr>
          <p:cNvCxnSpPr>
            <a:cxnSpLocks/>
          </p:cNvCxnSpPr>
          <p:nvPr/>
        </p:nvCxnSpPr>
        <p:spPr>
          <a:xfrm>
            <a:off x="1012373" y="1205259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D05712-159D-A650-3CFF-4390B5D12D7C}"/>
              </a:ext>
            </a:extLst>
          </p:cNvPr>
          <p:cNvSpPr txBox="1"/>
          <p:nvPr/>
        </p:nvSpPr>
        <p:spPr>
          <a:xfrm>
            <a:off x="1415144" y="478268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Estimate the revenue growth rate of 4-wheeler and 2-wheelers EVs in India for 2022 vs 2024 and 2023 vs 2024, assuming an average unit price.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937DBC-B995-940A-15E0-61133194F864}"/>
              </a:ext>
            </a:extLst>
          </p:cNvPr>
          <p:cNvSpPr/>
          <p:nvPr/>
        </p:nvSpPr>
        <p:spPr>
          <a:xfrm>
            <a:off x="2500003" y="3188694"/>
            <a:ext cx="7427768" cy="1285336"/>
          </a:xfrm>
          <a:prstGeom prst="roundRect">
            <a:avLst>
              <a:gd name="adj" fmla="val 8334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0D381-025A-7728-843D-32C2C01E6479}"/>
              </a:ext>
            </a:extLst>
          </p:cNvPr>
          <p:cNvSpPr txBox="1"/>
          <p:nvPr/>
        </p:nvSpPr>
        <p:spPr>
          <a:xfrm>
            <a:off x="2615684" y="3385086"/>
            <a:ext cx="71964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Key Insight : </a:t>
            </a:r>
          </a:p>
          <a:p>
            <a:r>
              <a:rPr lang="en-US" sz="1600" dirty="0"/>
              <a:t>EV adoption is improving even though total revenue is falling, which means EVs are gaining a larger share of the market.</a:t>
            </a:r>
            <a:endParaRPr lang="en-IN" sz="16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F70D9D4-82DE-7675-6F55-A3328975B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895513"/>
              </p:ext>
            </p:extLst>
          </p:nvPr>
        </p:nvGraphicFramePr>
        <p:xfrm>
          <a:off x="2967021" y="1475253"/>
          <a:ext cx="5926608" cy="1443447"/>
        </p:xfrm>
        <a:graphic>
          <a:graphicData uri="http://schemas.openxmlformats.org/drawingml/2006/table">
            <a:tbl>
              <a:tblPr firstRow="1" bandRow="1">
                <a:effectLst>
                  <a:outerShdw blurRad="254000" sx="98000" sy="98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05542">
                  <a:extLst>
                    <a:ext uri="{9D8B030D-6E8A-4147-A177-3AD203B41FA5}">
                      <a16:colId xmlns:a16="http://schemas.microsoft.com/office/drawing/2014/main" val="2186476496"/>
                    </a:ext>
                  </a:extLst>
                </a:gridCol>
                <a:gridCol w="2252780">
                  <a:extLst>
                    <a:ext uri="{9D8B030D-6E8A-4147-A177-3AD203B41FA5}">
                      <a16:colId xmlns:a16="http://schemas.microsoft.com/office/drawing/2014/main" val="1491273765"/>
                    </a:ext>
                  </a:extLst>
                </a:gridCol>
                <a:gridCol w="2068286">
                  <a:extLst>
                    <a:ext uri="{9D8B030D-6E8A-4147-A177-3AD203B41FA5}">
                      <a16:colId xmlns:a16="http://schemas.microsoft.com/office/drawing/2014/main" val="1666389023"/>
                    </a:ext>
                  </a:extLst>
                </a:gridCol>
              </a:tblGrid>
              <a:tr h="385356">
                <a:tc gridSpan="3"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Monthly EV Sales Summary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46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0548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Category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Growth(2022-2024)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Growth(2023-2024)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289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2-Wheelers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-53.59%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-65.81%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61247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4-Wheelers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-37.66%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-70.30%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74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273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E278E-CD7C-8EE2-AF8C-4E6A5283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852A24-03E1-71F6-A7D6-A6C4D5FF77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216615-B714-7DDC-7A99-0FADE9A66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9818DC-5E44-1AE4-BCC2-44FF327EF7E7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4247CD-CE27-2D00-D785-A337050DE5CB}"/>
              </a:ext>
            </a:extLst>
          </p:cNvPr>
          <p:cNvCxnSpPr>
            <a:cxnSpLocks/>
          </p:cNvCxnSpPr>
          <p:nvPr/>
        </p:nvCxnSpPr>
        <p:spPr>
          <a:xfrm>
            <a:off x="1094015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7BBE8E-AC83-CE4B-64C9-68AFFBD2DEAD}"/>
              </a:ext>
            </a:extLst>
          </p:cNvPr>
          <p:cNvSpPr/>
          <p:nvPr/>
        </p:nvSpPr>
        <p:spPr>
          <a:xfrm>
            <a:off x="1094014" y="1574710"/>
            <a:ext cx="10346871" cy="4913173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382D3-4157-C2DC-F477-F6FD65CE67A3}"/>
              </a:ext>
            </a:extLst>
          </p:cNvPr>
          <p:cNvSpPr txBox="1"/>
          <p:nvPr/>
        </p:nvSpPr>
        <p:spPr>
          <a:xfrm>
            <a:off x="1094015" y="792400"/>
            <a:ext cx="96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b="1" dirty="0"/>
              <a:t>Q1.What are the primary reasons for customers choosing 4-wheeler EVs in 2023 and 2024 (cost savings, environmental concerns, government incentives)?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27E54-BB9C-1247-9EBC-95BC322F38D5}"/>
              </a:ext>
            </a:extLst>
          </p:cNvPr>
          <p:cNvSpPr txBox="1"/>
          <p:nvPr/>
        </p:nvSpPr>
        <p:spPr>
          <a:xfrm>
            <a:off x="1208313" y="1643707"/>
            <a:ext cx="101182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💰 Cost Savings:</a:t>
            </a:r>
            <a:br>
              <a:rPr lang="en-US" sz="1600" dirty="0"/>
            </a:br>
            <a:r>
              <a:rPr lang="en-US" sz="1600" dirty="0"/>
              <a:t>EVs offer much lower running and maintenance costs compared to petrol or diesel vehicles. Over time, this leads to significant savings, making them a cost-effective long-term choice.</a:t>
            </a:r>
          </a:p>
          <a:p>
            <a:endParaRPr lang="en-US" sz="1600" dirty="0"/>
          </a:p>
          <a:p>
            <a:r>
              <a:rPr lang="en-US" sz="1600" b="1" dirty="0"/>
              <a:t>🌱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Environmental Concerns:</a:t>
            </a:r>
            <a:br>
              <a:rPr lang="en-US" sz="1600" dirty="0"/>
            </a:br>
            <a:r>
              <a:rPr lang="en-US" sz="1600" dirty="0"/>
              <a:t>Growing awareness of pollution and climate change has encouraged people to adopt cleaner transportation. EVs help reduce emissions, supporting a more sustainable environment.</a:t>
            </a:r>
          </a:p>
          <a:p>
            <a:endParaRPr lang="en-US" sz="1600" dirty="0"/>
          </a:p>
          <a:p>
            <a:r>
              <a:rPr lang="en-US" sz="1600" b="1" dirty="0"/>
              <a:t>🏛️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Government Incentives:</a:t>
            </a:r>
            <a:br>
              <a:rPr lang="en-US" sz="1600" dirty="0"/>
            </a:br>
            <a:r>
              <a:rPr lang="en-US" sz="1600" dirty="0"/>
              <a:t>Subsidies, tax benefits, and reduced registration charges have made EVs more affordable. These policies have helped lower the initial cost and increased customer adoption.</a:t>
            </a:r>
          </a:p>
          <a:p>
            <a:endParaRPr lang="en-IN" sz="1600" dirty="0"/>
          </a:p>
          <a:p>
            <a:r>
              <a:rPr lang="en-US" sz="1600" b="1" dirty="0"/>
              <a:t>⛽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Rising Fuel Prices:</a:t>
            </a:r>
            <a:br>
              <a:rPr lang="en-US" sz="1600" dirty="0"/>
            </a:br>
            <a:r>
              <a:rPr lang="en-US" sz="1600" dirty="0"/>
              <a:t>Increasing petrol and diesel prices have made traditional vehicles expensive to maintain. This has pushed consumers to shift toward EVs as a more economical alternative.</a:t>
            </a:r>
          </a:p>
          <a:p>
            <a:endParaRPr lang="en-US" sz="1600" dirty="0"/>
          </a:p>
          <a:p>
            <a:r>
              <a:rPr lang="en-US" sz="1600" b="1" dirty="0"/>
              <a:t>📈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Technological Advancements &amp; Awareness:</a:t>
            </a:r>
            <a:br>
              <a:rPr lang="en-US" sz="1600" dirty="0"/>
            </a:br>
            <a:r>
              <a:rPr lang="en-US" sz="1600" dirty="0"/>
              <a:t>Better battery performance, improved driving range, and expanding charging infrastructure have increased EV reliability. Along with rising awareness, this has boosted customer confidence and demand.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2296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94883-E711-AFFE-0C72-021E4618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67B9DF-D69D-0165-75B2-C1FBE5651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DC73C-B431-EEC7-7D07-7D1A9BED4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4C5D39-C08F-570B-DDC5-996D6BCF6ECF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83BBCC-35E3-9DD0-D973-2E1DC74B1CC3}"/>
              </a:ext>
            </a:extLst>
          </p:cNvPr>
          <p:cNvCxnSpPr>
            <a:cxnSpLocks/>
          </p:cNvCxnSpPr>
          <p:nvPr/>
        </p:nvCxnSpPr>
        <p:spPr>
          <a:xfrm>
            <a:off x="1094015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D52BC6-9C0A-501C-4EB3-7D083ED8200A}"/>
              </a:ext>
            </a:extLst>
          </p:cNvPr>
          <p:cNvSpPr/>
          <p:nvPr/>
        </p:nvSpPr>
        <p:spPr>
          <a:xfrm>
            <a:off x="1094014" y="1574711"/>
            <a:ext cx="10346871" cy="4227376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8DD66-9DD7-C065-F62E-ED184CA19A76}"/>
              </a:ext>
            </a:extLst>
          </p:cNvPr>
          <p:cNvSpPr txBox="1"/>
          <p:nvPr/>
        </p:nvSpPr>
        <p:spPr>
          <a:xfrm>
            <a:off x="1094015" y="792400"/>
            <a:ext cx="96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How do government incentives and subsidies impact the adoption rates of 2-wheelers and 4-wheelers?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A84CF-2225-5CCA-4D6C-347B560A70CD}"/>
              </a:ext>
            </a:extLst>
          </p:cNvPr>
          <p:cNvSpPr txBox="1"/>
          <p:nvPr/>
        </p:nvSpPr>
        <p:spPr>
          <a:xfrm>
            <a:off x="1208313" y="1643707"/>
            <a:ext cx="1011827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Impact of Government Incentives on EV Adoption</a:t>
            </a:r>
          </a:p>
          <a:p>
            <a:r>
              <a:rPr lang="en-US" sz="1600" b="1" dirty="0"/>
              <a:t>🚀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Boost in Adoption Rates:</a:t>
            </a:r>
            <a:b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dirty="0"/>
              <a:t>Government subsidies reduce the upfront cost of EVs, making them more affordable. This directly increases adoption, especially in price-sensitive segments like 2-wheelers. </a:t>
            </a:r>
          </a:p>
          <a:p>
            <a:endParaRPr lang="en-US" sz="1600" dirty="0"/>
          </a:p>
          <a:p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🛵 Strong Impact on 2-Wheelers:</a:t>
            </a:r>
            <a:br>
              <a:rPr lang="en-US" sz="1600" dirty="0"/>
            </a:br>
            <a:r>
              <a:rPr lang="en-US" sz="1600" dirty="0"/>
              <a:t>Schemes like FAME-II and PM E-DRIVE mainly support 2-wheelers through direct subsidies. This has led to the highest growth in adoption among all EV segments. </a:t>
            </a:r>
          </a:p>
          <a:p>
            <a:endParaRPr lang="en-US" sz="1600" dirty="0"/>
          </a:p>
          <a:p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🚗 Limited but Growing Impact on 4-Wheelers:</a:t>
            </a:r>
            <a:br>
              <a:rPr lang="en-US" sz="1600" dirty="0"/>
            </a:br>
            <a:r>
              <a:rPr lang="en-US" sz="1600" dirty="0"/>
              <a:t>4-wheeler EVs receive fewer central subsidies and depend more on state policies. This results in slower adoption compared to 2-wheelers, though growth is increasing. </a:t>
            </a:r>
          </a:p>
          <a:p>
            <a:endParaRPr lang="en-US" sz="1600" dirty="0"/>
          </a:p>
          <a:p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📉 Reduction in Total Cost of Ownership:</a:t>
            </a:r>
            <a:br>
              <a:rPr lang="en-US" sz="1600" dirty="0"/>
            </a:br>
            <a:r>
              <a:rPr lang="en-US" sz="1600" dirty="0"/>
              <a:t>Subsidies, tax benefits, and low running costs make EVs more economical over time. This improves affordability and encourages more consumers to switch.</a:t>
            </a:r>
          </a:p>
        </p:txBody>
      </p:sp>
    </p:spTree>
    <p:extLst>
      <p:ext uri="{BB962C8B-B14F-4D97-AF65-F5344CB8AC3E}">
        <p14:creationId xmlns:p14="http://schemas.microsoft.com/office/powerpoint/2010/main" val="1316873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10BC5-85D4-A5F2-FFAE-EA2D916B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666442-61CD-1500-CB6B-3B5D0A928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167C9-CD80-1120-4062-354D89D75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120655-1A5B-7EE3-2C5E-8F7BD76E87D1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018F8F-F8FF-752C-A27A-8AE3886939D4}"/>
              </a:ext>
            </a:extLst>
          </p:cNvPr>
          <p:cNvCxnSpPr>
            <a:cxnSpLocks/>
          </p:cNvCxnSpPr>
          <p:nvPr/>
        </p:nvCxnSpPr>
        <p:spPr>
          <a:xfrm>
            <a:off x="1094015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E8397A-BDCC-BEC2-7B38-C20CB2854CD3}"/>
              </a:ext>
            </a:extLst>
          </p:cNvPr>
          <p:cNvSpPr/>
          <p:nvPr/>
        </p:nvSpPr>
        <p:spPr>
          <a:xfrm>
            <a:off x="1094014" y="1574711"/>
            <a:ext cx="10346871" cy="3922568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4A9F7-0643-72A4-4C1A-419369E3F8D4}"/>
              </a:ext>
            </a:extLst>
          </p:cNvPr>
          <p:cNvSpPr txBox="1"/>
          <p:nvPr/>
        </p:nvSpPr>
        <p:spPr>
          <a:xfrm>
            <a:off x="1415142" y="795179"/>
            <a:ext cx="969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Which states in India provided most subsidies?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9F6A1-5BAD-2818-02EC-048168DF67DA}"/>
              </a:ext>
            </a:extLst>
          </p:cNvPr>
          <p:cNvSpPr txBox="1"/>
          <p:nvPr/>
        </p:nvSpPr>
        <p:spPr>
          <a:xfrm>
            <a:off x="1208313" y="1643707"/>
            <a:ext cx="101182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States Providing the Most EV Subsidies in India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Delhi:</a:t>
            </a:r>
            <a:r>
              <a:rPr lang="en-US" sz="1800" dirty="0"/>
              <a:t> Offers the highest subsidies with tax exemptions and purchase incentives, making EVs highly affordable.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Maharashtra: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/>
              <a:t>Provides cash benefits, road tax exemption, and strong policy support for EV buyers.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Gujarat: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/>
              <a:t>Gives attractive subsidies, especially for 2-wheelers, promoting mass adoption.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Karnataka: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/>
              <a:t>Focuses on tax exemptions and EV infrastructure rather than direct subsidies.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Tamil Nadu: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/>
              <a:t>Supports EV growth through policies, tax benefits, and manufacturing incentives.</a:t>
            </a:r>
          </a:p>
        </p:txBody>
      </p:sp>
    </p:spTree>
    <p:extLst>
      <p:ext uri="{BB962C8B-B14F-4D97-AF65-F5344CB8AC3E}">
        <p14:creationId xmlns:p14="http://schemas.microsoft.com/office/powerpoint/2010/main" val="3597146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24769-57AE-0FB2-F7A8-6E5C935E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5B0D1-DF0B-2E29-088C-2A6F5096EA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EB81D-05DE-2B02-8C62-30295E96C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88DFEB-81DC-F1B0-FBF6-F02A025B6DEF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F39C31-4061-90B8-A23B-A375A90F6A7C}"/>
              </a:ext>
            </a:extLst>
          </p:cNvPr>
          <p:cNvCxnSpPr>
            <a:cxnSpLocks/>
          </p:cNvCxnSpPr>
          <p:nvPr/>
        </p:nvCxnSpPr>
        <p:spPr>
          <a:xfrm>
            <a:off x="1094015" y="1488288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5104B2-1C4A-CAF4-2CFC-74F8A94A5EC0}"/>
              </a:ext>
            </a:extLst>
          </p:cNvPr>
          <p:cNvSpPr/>
          <p:nvPr/>
        </p:nvSpPr>
        <p:spPr>
          <a:xfrm>
            <a:off x="1094014" y="1574710"/>
            <a:ext cx="10346871" cy="4624087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652D4-DAD3-7382-DA3E-4CE78D01A0A1}"/>
              </a:ext>
            </a:extLst>
          </p:cNvPr>
          <p:cNvSpPr txBox="1"/>
          <p:nvPr/>
        </p:nvSpPr>
        <p:spPr>
          <a:xfrm>
            <a:off x="1094015" y="792400"/>
            <a:ext cx="96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How does the availability of charging stations infrastructure correlate with the EV sales and penetration rates in the top 5 states?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9B094-B4A4-CC03-481A-06DD4B5EE2DD}"/>
              </a:ext>
            </a:extLst>
          </p:cNvPr>
          <p:cNvSpPr txBox="1"/>
          <p:nvPr/>
        </p:nvSpPr>
        <p:spPr>
          <a:xfrm>
            <a:off x="1208313" y="1643707"/>
            <a:ext cx="1011827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Correlation Between Charging Infrastructure &amp; EV Adoption (Top 5 States)</a:t>
            </a:r>
          </a:p>
          <a:p>
            <a:r>
              <a:rPr lang="en-US" sz="1800" b="1" dirty="0"/>
              <a:t>🔗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Positive Correlation (Direct Relationship):</a:t>
            </a:r>
            <a:b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800" dirty="0"/>
              <a:t>States with more charging stations generally have higher EV adoption and penetration. Better infrastructure reduces range anxiety and builds consumer confidence. </a:t>
            </a:r>
          </a:p>
          <a:p>
            <a:endParaRPr lang="en-US" sz="1800" dirty="0"/>
          </a:p>
          <a:p>
            <a:r>
              <a:rPr lang="en-US" sz="1800" b="1" dirty="0"/>
              <a:t>🏙️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Top States with Strong Infrastructure &amp; Sales:</a:t>
            </a:r>
            <a:br>
              <a:rPr lang="en-US" sz="1800" dirty="0"/>
            </a:br>
            <a:r>
              <a:rPr lang="en-US" sz="1800" dirty="0"/>
              <a:t>Karnataka, Maharashtra, Delhi, Uttar Pradesh, and Tamil Nadu lead in both charging stations and EV sales. This shows infrastructure availability supports higher adoption. </a:t>
            </a:r>
          </a:p>
          <a:p>
            <a:endParaRPr lang="en-US" sz="1800" dirty="0"/>
          </a:p>
          <a:p>
            <a:r>
              <a:rPr lang="en-US" sz="1800" b="1" dirty="0"/>
              <a:t>📉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 Infrastructure Gaps Slow Adoption:</a:t>
            </a:r>
            <a:br>
              <a:rPr lang="en-US" sz="1800" dirty="0"/>
            </a:br>
            <a:r>
              <a:rPr lang="en-US" sz="1800" dirty="0"/>
              <a:t>Limited charging stations create inconvenience and increase range anxiety. This slows EV adoption, especially for 4-wheelers. </a:t>
            </a:r>
          </a:p>
          <a:p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📈 Overall Insight:</a:t>
            </a:r>
            <a:br>
              <a:rPr lang="en-US" sz="1800" dirty="0"/>
            </a:br>
            <a:r>
              <a:rPr lang="en-US" sz="1800" dirty="0"/>
              <a:t>There is a strong positive correlation between charging infrastructure and EV adoption. However, policies, cost, and vehicle type also influence growth.</a:t>
            </a:r>
          </a:p>
        </p:txBody>
      </p:sp>
    </p:spTree>
    <p:extLst>
      <p:ext uri="{BB962C8B-B14F-4D97-AF65-F5344CB8AC3E}">
        <p14:creationId xmlns:p14="http://schemas.microsoft.com/office/powerpoint/2010/main" val="4230159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B907C-B1FE-5FA0-F770-3502A7FA8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76BA76-E4C9-3217-5AB3-41921B2C9F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AB8C76-CCC3-89E9-4451-EC9440832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2D84FA-E359-02D9-3516-0F7A61FC9B21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6BB333-43BF-757A-E0B8-88E90D0D484C}"/>
              </a:ext>
            </a:extLst>
          </p:cNvPr>
          <p:cNvCxnSpPr>
            <a:cxnSpLocks/>
          </p:cNvCxnSpPr>
          <p:nvPr/>
        </p:nvCxnSpPr>
        <p:spPr>
          <a:xfrm>
            <a:off x="1094014" y="1386465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0B9243-EE17-F6BC-895D-6CCFD377FB7C}"/>
              </a:ext>
            </a:extLst>
          </p:cNvPr>
          <p:cNvSpPr/>
          <p:nvPr/>
        </p:nvSpPr>
        <p:spPr>
          <a:xfrm>
            <a:off x="1094014" y="1514614"/>
            <a:ext cx="10346871" cy="4951497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D3813-E8E9-2BC7-25FB-0F408221B427}"/>
              </a:ext>
            </a:extLst>
          </p:cNvPr>
          <p:cNvSpPr txBox="1"/>
          <p:nvPr/>
        </p:nvSpPr>
        <p:spPr>
          <a:xfrm>
            <a:off x="1094014" y="732303"/>
            <a:ext cx="96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Who should be the brand ambassador if </a:t>
            </a:r>
            <a:r>
              <a:rPr lang="en-US" dirty="0" err="1"/>
              <a:t>AtliQ</a:t>
            </a:r>
            <a:r>
              <a:rPr lang="en-US" dirty="0"/>
              <a:t> Motors launches their EV/Hybrid vehicles in India and why?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178E3-7902-26F7-FED8-F83A4BA1C8AB}"/>
              </a:ext>
            </a:extLst>
          </p:cNvPr>
          <p:cNvSpPr txBox="1"/>
          <p:nvPr/>
        </p:nvSpPr>
        <p:spPr>
          <a:xfrm>
            <a:off x="1208313" y="1522446"/>
            <a:ext cx="101182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Brand Ambassador Recommendation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Suggested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 Rohit Sharma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Why Rohit Sharma?</a:t>
            </a:r>
          </a:p>
          <a:p>
            <a:r>
              <a:rPr lang="en-US" sz="2000" dirty="0"/>
              <a:t>•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Mass Popularity Across India </a:t>
            </a:r>
            <a:b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/>
              <a:t>   </a:t>
            </a:r>
            <a:r>
              <a:rPr lang="en-US" sz="1800" dirty="0"/>
              <a:t>Strong fan base in both urban and rural markets</a:t>
            </a:r>
          </a:p>
          <a:p>
            <a:r>
              <a:rPr lang="en-US" sz="2000" dirty="0"/>
              <a:t>•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Calm &amp; Reliable Personality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800" dirty="0"/>
              <a:t>Represents trust, consistency, and dependability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• Strong Family Audience Connect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800" dirty="0"/>
              <a:t>Appeals to middle-class and family buyers (key 4W segment)</a:t>
            </a:r>
          </a:p>
          <a:p>
            <a:r>
              <a:rPr lang="en-US" sz="2000" dirty="0"/>
              <a:t>•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Positive &amp; Clean Image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800" dirty="0"/>
              <a:t>Aligns well with eco-friendly and sustainable brand values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Insights :</a:t>
            </a:r>
          </a:p>
          <a:p>
            <a:r>
              <a:rPr lang="en-US" sz="1800" dirty="0"/>
              <a:t>Rohit Sharma’s strong popularity and trustworthy image can help </a:t>
            </a:r>
            <a:r>
              <a:rPr lang="en-US" sz="1800" dirty="0" err="1"/>
              <a:t>AtliQ</a:t>
            </a:r>
            <a:r>
              <a:rPr lang="en-US" sz="1800" dirty="0"/>
              <a:t> Motors build brand credibility and connect with a wider audience across India.</a:t>
            </a:r>
          </a:p>
          <a:p>
            <a:endParaRPr lang="en-US" sz="20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29782C-B5A3-699F-15E4-CB17FC57C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6465"/>
            <a:ext cx="6720567" cy="420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58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CD608-78DF-2AAF-28BB-FDC727F2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8D5D2A-9790-9906-DB75-DF1985C0DB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119A38-3B4B-F4D2-EDCD-95AE42A0A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706DE0-4873-2386-223B-75563D738CE7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1E0EAC-FAC1-BCD4-C714-9D1C4F1F65D5}"/>
              </a:ext>
            </a:extLst>
          </p:cNvPr>
          <p:cNvCxnSpPr>
            <a:cxnSpLocks/>
          </p:cNvCxnSpPr>
          <p:nvPr/>
        </p:nvCxnSpPr>
        <p:spPr>
          <a:xfrm>
            <a:off x="1094014" y="1386465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844B25-C9C2-B9F2-DB2C-14940C6D2AF3}"/>
              </a:ext>
            </a:extLst>
          </p:cNvPr>
          <p:cNvSpPr/>
          <p:nvPr/>
        </p:nvSpPr>
        <p:spPr>
          <a:xfrm>
            <a:off x="1094014" y="1514614"/>
            <a:ext cx="10346871" cy="4951497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489BC-DF6F-BE22-96C8-10642B5594BF}"/>
              </a:ext>
            </a:extLst>
          </p:cNvPr>
          <p:cNvSpPr txBox="1"/>
          <p:nvPr/>
        </p:nvSpPr>
        <p:spPr>
          <a:xfrm>
            <a:off x="1094014" y="732303"/>
            <a:ext cx="96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Which state of India is ideal to start the manufacturing unit? (Based on subsidies provided, ease of doing business, stability in governance etc.)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A1272-23B6-3C43-4B2B-60C70CEA331E}"/>
              </a:ext>
            </a:extLst>
          </p:cNvPr>
          <p:cNvSpPr txBox="1"/>
          <p:nvPr/>
        </p:nvSpPr>
        <p:spPr>
          <a:xfrm>
            <a:off x="1208313" y="1522446"/>
            <a:ext cx="1011827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Best State for EV Manufacturing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Suggested: 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Maharashtra</a:t>
            </a:r>
          </a:p>
          <a:p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Why Maharashtra?</a:t>
            </a:r>
          </a:p>
          <a:p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/>
              <a:t>• </a:t>
            </a: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Strong Industrial Base</a:t>
            </a:r>
            <a:b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/>
              <a:t>   </a:t>
            </a:r>
            <a:r>
              <a:rPr lang="en-US" sz="1800" dirty="0"/>
              <a:t>One of India’s leading manufacturing hubs with established auto industry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/>
              <a:t>• </a:t>
            </a: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High Government Incentives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1800" dirty="0"/>
              <a:t>Provides subsidies, tax exemptions, and EV-friendly policies </a:t>
            </a:r>
            <a:endParaRPr lang="en-US" sz="1600" dirty="0"/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Large Market Demand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1800" dirty="0"/>
              <a:t>High EV adoption in cities like Mumbai and Pune</a:t>
            </a:r>
            <a:r>
              <a:rPr lang="en-US" sz="2000" dirty="0"/>
              <a:t> </a:t>
            </a:r>
          </a:p>
          <a:p>
            <a:r>
              <a:rPr lang="en-US" sz="2000" dirty="0"/>
              <a:t>• </a:t>
            </a:r>
            <a:r>
              <a:rPr lang="en-IN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Skilled Workforce</a:t>
            </a:r>
            <a:b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/>
              <a:t>   </a:t>
            </a:r>
            <a:r>
              <a:rPr lang="en-US" sz="1800" dirty="0"/>
              <a:t>Availability of technical and industrial talent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Insights :</a:t>
            </a:r>
          </a:p>
          <a:p>
            <a:r>
              <a:rPr lang="en-US" sz="1800" b="1" dirty="0"/>
              <a:t>Maharashtra is ideal due to its strong industrial ecosystem, high demand, and supportive government policies for EV growth.</a:t>
            </a:r>
            <a:endParaRPr lang="en-US" sz="1800" dirty="0"/>
          </a:p>
          <a:p>
            <a:endParaRPr lang="en-US" sz="2000" b="1" dirty="0">
              <a:solidFill>
                <a:schemeClr val="accent6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89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FB3A2-84C8-E74C-122A-AC43F604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2B0DE4-4EC2-3EAD-8D9D-DF9874946A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A508E-CE98-E192-45AB-D8B54CB1E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BF371C-B483-EDB6-AD22-3F3ADD77FF78}"/>
              </a:ext>
            </a:extLst>
          </p:cNvPr>
          <p:cNvSpPr txBox="1"/>
          <p:nvPr/>
        </p:nvSpPr>
        <p:spPr>
          <a:xfrm>
            <a:off x="1415142" y="197535"/>
            <a:ext cx="6662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IN" dirty="0"/>
              <a:t>Secondary Research Questions: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6ACF7B-997D-3F11-2E25-514656D95524}"/>
              </a:ext>
            </a:extLst>
          </p:cNvPr>
          <p:cNvCxnSpPr>
            <a:cxnSpLocks/>
          </p:cNvCxnSpPr>
          <p:nvPr/>
        </p:nvCxnSpPr>
        <p:spPr>
          <a:xfrm>
            <a:off x="1094014" y="1386465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0688E2-3DA3-1369-A428-9DA26A6FD6F8}"/>
              </a:ext>
            </a:extLst>
          </p:cNvPr>
          <p:cNvSpPr/>
          <p:nvPr/>
        </p:nvSpPr>
        <p:spPr>
          <a:xfrm>
            <a:off x="1094014" y="1514613"/>
            <a:ext cx="10346871" cy="5139861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F3BD6-6935-E699-BA1E-2F0D109B56FC}"/>
              </a:ext>
            </a:extLst>
          </p:cNvPr>
          <p:cNvSpPr txBox="1"/>
          <p:nvPr/>
        </p:nvSpPr>
        <p:spPr>
          <a:xfrm>
            <a:off x="1094014" y="732303"/>
            <a:ext cx="969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Your top 3 recommendations for </a:t>
            </a:r>
            <a:r>
              <a:rPr lang="en-US" dirty="0" err="1"/>
              <a:t>AtliQ</a:t>
            </a:r>
            <a:r>
              <a:rPr lang="en-US" dirty="0"/>
              <a:t> Motors.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31D03-73BC-BB14-0B71-CD56562D987C}"/>
              </a:ext>
            </a:extLst>
          </p:cNvPr>
          <p:cNvSpPr txBox="1"/>
          <p:nvPr/>
        </p:nvSpPr>
        <p:spPr>
          <a:xfrm>
            <a:off x="1208313" y="1514613"/>
            <a:ext cx="1011827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Top 3 Recommendations for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AtliQ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Motors</a:t>
            </a:r>
          </a:p>
          <a:p>
            <a:endParaRPr lang="en-US" sz="1800" b="1" dirty="0"/>
          </a:p>
          <a:p>
            <a:r>
              <a:rPr lang="en-US" sz="1800" b="1" dirty="0"/>
              <a:t>1. Focus on High-Growth States</a:t>
            </a:r>
          </a:p>
          <a:p>
            <a:r>
              <a:rPr lang="en-US" sz="1800" dirty="0"/>
              <a:t>• Target states like </a:t>
            </a:r>
            <a:r>
              <a:rPr lang="en-US" sz="1800" b="1" dirty="0"/>
              <a:t>Karnataka, Maharashtra, Tamil Nadu</a:t>
            </a:r>
            <a:br>
              <a:rPr lang="en-US" sz="1800" dirty="0"/>
            </a:br>
            <a:r>
              <a:rPr lang="en-US" sz="1800" dirty="0"/>
              <a:t>• These regions show </a:t>
            </a:r>
            <a:r>
              <a:rPr lang="en-US" sz="1800" b="1" dirty="0"/>
              <a:t>high EV penetration and demand</a:t>
            </a:r>
            <a:br>
              <a:rPr lang="en-US" sz="1800" dirty="0"/>
            </a:br>
            <a:r>
              <a:rPr lang="en-US" sz="1800" dirty="0"/>
              <a:t>• Helps achieve faster market entry and sales growth</a:t>
            </a:r>
          </a:p>
          <a:p>
            <a:endParaRPr lang="en-US" sz="1800" dirty="0"/>
          </a:p>
          <a:p>
            <a:r>
              <a:rPr lang="en-US" sz="1800" b="1" dirty="0"/>
              <a:t>2. Invest in Charging Infrastructure</a:t>
            </a:r>
          </a:p>
          <a:p>
            <a:r>
              <a:rPr lang="en-US" sz="1800" dirty="0"/>
              <a:t>• Expand charging stations in cities and highways</a:t>
            </a:r>
            <a:br>
              <a:rPr lang="en-US" sz="1800" dirty="0"/>
            </a:br>
            <a:r>
              <a:rPr lang="en-US" sz="1800" dirty="0"/>
              <a:t>• Partner with local providers and governments</a:t>
            </a:r>
          </a:p>
          <a:p>
            <a:endParaRPr lang="en-US" sz="1800" dirty="0"/>
          </a:p>
          <a:p>
            <a:r>
              <a:rPr lang="en-US" sz="1800" b="1" dirty="0"/>
              <a:t>3. Build Strong Brand Awareness</a:t>
            </a:r>
          </a:p>
          <a:p>
            <a:r>
              <a:rPr lang="en-US" sz="1800" dirty="0"/>
              <a:t>• Run marketing campaigns highlighting </a:t>
            </a:r>
            <a:r>
              <a:rPr lang="en-US" sz="1800" b="1" dirty="0"/>
              <a:t>cost savings &amp; sustainability</a:t>
            </a:r>
            <a:br>
              <a:rPr lang="en-US" sz="1800" dirty="0"/>
            </a:br>
            <a:r>
              <a:rPr lang="en-US" sz="1800" dirty="0"/>
              <a:t>• Educate customers about EV benefits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Insights :</a:t>
            </a:r>
          </a:p>
          <a:p>
            <a:r>
              <a:rPr lang="en-US" sz="1800" dirty="0" err="1"/>
              <a:t>AtliQ</a:t>
            </a:r>
            <a:r>
              <a:rPr lang="en-US" sz="1800" dirty="0"/>
              <a:t> Motors should focus on strong markets, infrastructure development, and brand awareness to successfully enter and grow in the Indian EV market.</a:t>
            </a:r>
          </a:p>
        </p:txBody>
      </p:sp>
    </p:spTree>
    <p:extLst>
      <p:ext uri="{BB962C8B-B14F-4D97-AF65-F5344CB8AC3E}">
        <p14:creationId xmlns:p14="http://schemas.microsoft.com/office/powerpoint/2010/main" val="367082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6FEB4A-FCF6-A90F-F715-544D4EA74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E8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F5520-EAC7-BAC4-ABEF-38988258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322590-1644-217E-A72B-7CD3850E9D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ED566-898D-CAD3-2557-0178925D8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BD7FDF-802F-7840-F9E6-B24D0F0F8D53}"/>
              </a:ext>
            </a:extLst>
          </p:cNvPr>
          <p:cNvSpPr txBox="1"/>
          <p:nvPr/>
        </p:nvSpPr>
        <p:spPr>
          <a:xfrm>
            <a:off x="990599" y="726312"/>
            <a:ext cx="8888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Strategic Recommendations for </a:t>
            </a:r>
            <a:r>
              <a:rPr lang="en-US" dirty="0" err="1"/>
              <a:t>AtliQ</a:t>
            </a:r>
            <a:r>
              <a:rPr lang="en-US" dirty="0"/>
              <a:t> Motors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61CC37-28BC-B3D8-355D-98C0EE176D33}"/>
              </a:ext>
            </a:extLst>
          </p:cNvPr>
          <p:cNvCxnSpPr>
            <a:cxnSpLocks/>
          </p:cNvCxnSpPr>
          <p:nvPr/>
        </p:nvCxnSpPr>
        <p:spPr>
          <a:xfrm>
            <a:off x="1094014" y="1386465"/>
            <a:ext cx="9231084" cy="0"/>
          </a:xfrm>
          <a:prstGeom prst="line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921224-74EC-595C-25B8-C46FEFDAAFF3}"/>
              </a:ext>
            </a:extLst>
          </p:cNvPr>
          <p:cNvSpPr/>
          <p:nvPr/>
        </p:nvSpPr>
        <p:spPr>
          <a:xfrm>
            <a:off x="1094014" y="1461844"/>
            <a:ext cx="9378043" cy="3934311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9D70F-1A8E-C683-98A4-6F87495A2BE7}"/>
              </a:ext>
            </a:extLst>
          </p:cNvPr>
          <p:cNvSpPr txBox="1"/>
          <p:nvPr/>
        </p:nvSpPr>
        <p:spPr>
          <a:xfrm>
            <a:off x="1279070" y="1461844"/>
            <a:ext cx="87085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28467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Expand in High-Potential States</a:t>
            </a:r>
          </a:p>
          <a:p>
            <a:r>
              <a:rPr lang="en-IN" dirty="0">
                <a:solidFill>
                  <a:srgbClr val="28467C"/>
                </a:solidFill>
              </a:rPr>
              <a:t>      </a:t>
            </a:r>
            <a:r>
              <a:rPr lang="en-IN" dirty="0">
                <a:solidFill>
                  <a:srgbClr val="28467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Focus on Karnataka, </a:t>
            </a:r>
            <a:r>
              <a:rPr lang="en-IN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Maharashtra, and </a:t>
            </a:r>
            <a:r>
              <a:rPr lang="en-IN" dirty="0">
                <a:solidFill>
                  <a:srgbClr val="28467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Tamil Nadu for faster growth.</a:t>
            </a:r>
          </a:p>
          <a:p>
            <a:endParaRPr lang="en-IN" dirty="0">
              <a:solidFill>
                <a:srgbClr val="28467C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28467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Prioritize 2-Wheeler Segment</a:t>
            </a:r>
          </a:p>
          <a:p>
            <a:r>
              <a:rPr lang="en-IN" dirty="0"/>
              <a:t>      </a:t>
            </a:r>
            <a:r>
              <a:rPr lang="en-US" dirty="0">
                <a:solidFill>
                  <a:srgbClr val="28467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 demand and strong government support make it the best entry point.</a:t>
            </a:r>
          </a:p>
          <a:p>
            <a:endParaRPr lang="en-IN" dirty="0">
              <a:solidFill>
                <a:srgbClr val="28467C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28467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 in Charging Infrastructure</a:t>
            </a:r>
          </a:p>
          <a:p>
            <a:r>
              <a:rPr lang="en-IN" dirty="0"/>
              <a:t>      </a:t>
            </a:r>
            <a:r>
              <a:rPr lang="en-US" dirty="0">
                <a:solidFill>
                  <a:srgbClr val="28467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Improve accessibility to reduce range anxiety and boost adoption</a:t>
            </a:r>
          </a:p>
          <a:p>
            <a:endParaRPr lang="en-US" dirty="0">
              <a:solidFill>
                <a:srgbClr val="28467C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28467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Leverage Government Incentives</a:t>
            </a:r>
          </a:p>
          <a:p>
            <a:r>
              <a:rPr lang="en-IN" dirty="0"/>
              <a:t>     </a:t>
            </a:r>
            <a:r>
              <a:rPr lang="en-US" dirty="0">
                <a:solidFill>
                  <a:srgbClr val="28467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Align strategy with subsidy-driven markets to maximize benefits.</a:t>
            </a:r>
          </a:p>
          <a:p>
            <a:endParaRPr lang="en-US" dirty="0">
              <a:solidFill>
                <a:srgbClr val="28467C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28467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Strong Brand Awareness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28467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Use marketing and brand ambassador to educate and attract customers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285CD7-FBCC-5740-EB85-DE2A890A525C}"/>
              </a:ext>
            </a:extLst>
          </p:cNvPr>
          <p:cNvSpPr/>
          <p:nvPr/>
        </p:nvSpPr>
        <p:spPr>
          <a:xfrm>
            <a:off x="1094014" y="5471532"/>
            <a:ext cx="9378043" cy="1005467"/>
          </a:xfrm>
          <a:prstGeom prst="roundRect">
            <a:avLst>
              <a:gd name="adj" fmla="val 1812"/>
            </a:avLst>
          </a:prstGeom>
          <a:solidFill>
            <a:srgbClr val="EEF3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Lightbulb and gear">
            <a:extLst>
              <a:ext uri="{FF2B5EF4-FFF2-40B4-BE49-F238E27FC236}">
                <a16:creationId xmlns:a16="http://schemas.microsoft.com/office/drawing/2014/main" id="{1FCC4FC6-5525-3DEA-19DE-726F24555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070" y="5520122"/>
            <a:ext cx="914400" cy="9144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684496-B2EC-5883-5948-1432A764EC53}"/>
              </a:ext>
            </a:extLst>
          </p:cNvPr>
          <p:cNvCxnSpPr>
            <a:cxnSpLocks/>
          </p:cNvCxnSpPr>
          <p:nvPr/>
        </p:nvCxnSpPr>
        <p:spPr>
          <a:xfrm>
            <a:off x="2460170" y="5520122"/>
            <a:ext cx="0" cy="9144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35E1AE-7CBA-23E0-BCA9-27E586F1D6B3}"/>
              </a:ext>
            </a:extLst>
          </p:cNvPr>
          <p:cNvSpPr txBox="1"/>
          <p:nvPr/>
        </p:nvSpPr>
        <p:spPr>
          <a:xfrm>
            <a:off x="2634347" y="5471532"/>
            <a:ext cx="802276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 Recommendation</a:t>
            </a:r>
            <a:endParaRPr lang="en-US" sz="20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 err="1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AtliQ</a:t>
            </a:r>
            <a:r>
              <a:rPr lang="en-US" dirty="0">
                <a:solidFill>
                  <a:srgbClr val="1F4E7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Motors should adopt a focused, infrastructure-driven, and customer-centric strategy to successfully enter and grow in the Indian EV market.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28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2676</Words>
  <Application>Microsoft Office PowerPoint</Application>
  <PresentationFormat>Widescreen</PresentationFormat>
  <Paragraphs>501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Segoe UI</vt:lpstr>
      <vt:lpstr>Segoe UI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Harshal Patange</dc:creator>
  <cp:lastModifiedBy>Harshal Patange</cp:lastModifiedBy>
  <cp:revision>18</cp:revision>
  <dcterms:created xsi:type="dcterms:W3CDTF">2026-04-04T07:21:02Z</dcterms:created>
  <dcterms:modified xsi:type="dcterms:W3CDTF">2026-04-11T03:08:51Z</dcterms:modified>
</cp:coreProperties>
</file>